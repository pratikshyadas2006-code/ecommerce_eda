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E-Commerce Sales &amp; Customer Behavior Analysis</a:t>
            </a:r>
          </a:p>
          <a:p>
            <a:pPr algn="ctr">
              <a:defRPr sz="2200"/>
            </a:pPr>
            <a:r>
              <a:t>Exploratory Data Analysis (EDA)</a:t>
            </a:r>
          </a:p>
          <a:p>
            <a:pPr algn="ctr">
              <a:defRPr sz="1800"/>
            </a:pPr>
            <a:r>
              <a:t>Pratikshya Das</a:t>
            </a:r>
          </a:p>
          <a:p>
            <a:pPr algn="ctr">
              <a:defRPr sz="1600"/>
            </a:pPr>
            <a:r>
              <a:t>B.Tech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Analyze e-commerce sales performance and purchasing patterns.</a:t>
            </a:r>
          </a:p>
          <a:p>
            <a:pPr>
              <a:spcAft>
                <a:spcPts val="1000"/>
              </a:spcAft>
              <a:defRPr sz="2000"/>
            </a:pPr>
            <a:r>
              <a:t>Identify top-selling and frequently ordered products.</a:t>
            </a:r>
          </a:p>
          <a:p>
            <a:pPr>
              <a:spcAft>
                <a:spcPts val="1000"/>
              </a:spcAft>
              <a:defRPr sz="2000"/>
            </a:pPr>
            <a:r>
              <a:t>Understand customer purchasing behavior and high-value customers.</a:t>
            </a:r>
          </a:p>
          <a:p>
            <a:pPr>
              <a:spcAft>
                <a:spcPts val="1000"/>
              </a:spcAft>
              <a:defRPr sz="2000"/>
            </a:pPr>
            <a:r>
              <a:t>Examine monthly and weekly sales trends.</a:t>
            </a:r>
          </a:p>
          <a:p>
            <a:pPr>
              <a:spcAft>
                <a:spcPts val="1000"/>
              </a:spcAft>
              <a:defRPr sz="2000"/>
            </a:pPr>
            <a:r>
              <a:t>Analyze cancellations, outliers, and relationships between price, quantity, and sales.</a:t>
            </a:r>
          </a:p>
          <a:p>
            <a:pPr>
              <a:spcAft>
                <a:spcPts val="1000"/>
              </a:spcAft>
              <a:defRPr sz="2000"/>
            </a:pPr>
            <a:r>
              <a:t>Generate actionable business insights and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&amp;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Dataset: UCI Online Retail Dataset.</a:t>
            </a:r>
          </a:p>
          <a:p>
            <a:pPr>
              <a:spcAft>
                <a:spcPts val="1000"/>
              </a:spcAft>
              <a:defRPr sz="1700"/>
            </a:pPr>
            <a:r>
              <a:t>Original dataset: 541,909 rows and 8 columns.</a:t>
            </a:r>
          </a:p>
          <a:p>
            <a:pPr>
              <a:spcAft>
                <a:spcPts val="1000"/>
              </a:spcAft>
              <a:defRPr sz="1700"/>
            </a:pPr>
            <a:r>
              <a:t>Columns include InvoiceNo, StockCode, Description, Quantity, InvoiceDate, UnitPrice, CustomerID, and Country.</a:t>
            </a:r>
          </a:p>
          <a:p>
            <a:pPr>
              <a:spcAft>
                <a:spcPts val="1000"/>
              </a:spcAft>
              <a:defRPr sz="1700"/>
            </a:pPr>
            <a:r>
              <a:t>Removed 5,268 duplicate rows.</a:t>
            </a:r>
          </a:p>
          <a:p>
            <a:pPr>
              <a:spcAft>
                <a:spcPts val="1000"/>
              </a:spcAft>
              <a:defRPr sz="1700"/>
            </a:pPr>
            <a:r>
              <a:t>Removed rows with missing product descriptions.</a:t>
            </a:r>
          </a:p>
          <a:p>
            <a:pPr>
              <a:spcAft>
                <a:spcPts val="1000"/>
              </a:spcAft>
              <a:defRPr sz="1700"/>
            </a:pPr>
            <a:r>
              <a:t>Separated 9,251 cancelled transactions.</a:t>
            </a:r>
          </a:p>
          <a:p>
            <a:pPr>
              <a:spcAft>
                <a:spcPts val="1000"/>
              </a:spcAft>
              <a:defRPr sz="1700"/>
            </a:pPr>
            <a:r>
              <a:t>Removed invalid quantity and unit-price values.</a:t>
            </a:r>
          </a:p>
          <a:p>
            <a:pPr>
              <a:spcAft>
                <a:spcPts val="1000"/>
              </a:spcAft>
              <a:defRPr sz="1700"/>
            </a:pPr>
            <a:r>
              <a:t>Final cleaned dataset: 524,878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Key Business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Total Sales: 10,642,110.80</a:t>
            </a:r>
          </a:p>
          <a:p>
            <a:pPr>
              <a:spcAft>
                <a:spcPts val="1000"/>
              </a:spcAft>
              <a:defRPr sz="2200"/>
            </a:pPr>
            <a:r>
              <a:t>Total Quantity Sold: 5,572,420</a:t>
            </a:r>
          </a:p>
          <a:p>
            <a:pPr>
              <a:spcAft>
                <a:spcPts val="1000"/>
              </a:spcAft>
              <a:defRPr sz="2200"/>
            </a:pPr>
            <a:r>
              <a:t>Total Orders: 19,960</a:t>
            </a:r>
          </a:p>
          <a:p>
            <a:pPr>
              <a:spcAft>
                <a:spcPts val="1000"/>
              </a:spcAft>
              <a:defRPr sz="2200"/>
            </a:pPr>
            <a:r>
              <a:t>Unique Customers: 4,338</a:t>
            </a:r>
          </a:p>
          <a:p>
            <a:pPr>
              <a:spcAft>
                <a:spcPts val="1000"/>
              </a:spcAft>
              <a:defRPr sz="2200"/>
            </a:pPr>
            <a:r>
              <a:t>Average Order Value (AOV): 533.17</a:t>
            </a:r>
          </a:p>
          <a:p>
            <a:pPr>
              <a:spcAft>
                <a:spcPts val="1000"/>
              </a:spcAft>
              <a:defRPr sz="2200"/>
            </a:pPr>
            <a:r>
              <a:t>Cancellation Rate: 1.73%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Product &amp; 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WHITE HANGING HEART T-LIGHT HOLDER was the highest-selling product by quantity.</a:t>
            </a:r>
          </a:p>
          <a:p>
            <a:pPr>
              <a:spcAft>
                <a:spcPts val="1000"/>
              </a:spcAft>
              <a:defRPr sz="1800"/>
            </a:pPr>
            <a:r>
              <a:t>Several products appeared repeatedly among the highest-quantity, highest-sales, and most frequently ordered products.</a:t>
            </a:r>
          </a:p>
          <a:p>
            <a:pPr>
              <a:spcAft>
                <a:spcPts val="1000"/>
              </a:spcAft>
              <a:defRPr sz="1800"/>
            </a:pPr>
            <a:r>
              <a:t>A small group of customers generated particularly high total sales.</a:t>
            </a:r>
          </a:p>
          <a:p>
            <a:pPr>
              <a:spcAft>
                <a:spcPts val="1000"/>
              </a:spcAft>
              <a:defRPr sz="1800"/>
            </a:pPr>
            <a:r>
              <a:t>Customer order-frequency analysis identified highly active repeat customers.</a:t>
            </a:r>
          </a:p>
          <a:p>
            <a:pPr>
              <a:spcAft>
                <a:spcPts val="1000"/>
              </a:spcAft>
              <a:defRPr sz="1800"/>
            </a:pPr>
            <a:r>
              <a:t>Product and customer performance can support inventory and retention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Sales Trends &amp; Visual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Monthly and weekly sales trends were analyzed.</a:t>
            </a:r>
          </a:p>
          <a:p>
            <a:pPr>
              <a:spcAft>
                <a:spcPts val="1000"/>
              </a:spcAft>
              <a:defRPr sz="1800"/>
            </a:pPr>
            <a:r>
              <a:t>November 2011 recorded the highest monthly sales: 1,503,866.78.</a:t>
            </a:r>
          </a:p>
          <a:p>
            <a:pPr>
              <a:spcAft>
                <a:spcPts val="1000"/>
              </a:spcAft>
              <a:defRPr sz="1800"/>
            </a:pPr>
            <a:r>
              <a:t>February 2011 recorded the lowest monthly sales: 522,545.56.</a:t>
            </a:r>
          </a:p>
          <a:p>
            <a:pPr>
              <a:spcAft>
                <a:spcPts val="1000"/>
              </a:spcAft>
              <a:defRPr sz="1800"/>
            </a:pPr>
            <a:r>
              <a:t>The United Kingdom generated the highest total sales.</a:t>
            </a:r>
          </a:p>
          <a:p>
            <a:pPr>
              <a:spcAft>
                <a:spcPts val="1000"/>
              </a:spcAft>
              <a:defRPr sz="1800"/>
            </a:pPr>
            <a:r>
              <a:t>Scatter plots examined Quantity vs Sales and Unit Price vs Quantity.</a:t>
            </a:r>
          </a:p>
          <a:p>
            <a:pPr>
              <a:spcAft>
                <a:spcPts val="1000"/>
              </a:spcAft>
              <a:defRPr sz="1800"/>
            </a:pPr>
            <a:r>
              <a:t>IQR-based analysis identified potential outliers in Quantity, UnitPrice, and Sales.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Prioritize inventory planning for frequently ordered and high-demand products.</a:t>
            </a:r>
          </a:p>
          <a:p>
            <a:pPr>
              <a:spcAft>
                <a:spcPts val="1000"/>
              </a:spcAft>
              <a:defRPr sz="1700"/>
            </a:pPr>
            <a:r>
              <a:t>Monitor high-value customers and encourage repeat purchases.</a:t>
            </a:r>
          </a:p>
          <a:p>
            <a:pPr>
              <a:spcAft>
                <a:spcPts val="1000"/>
              </a:spcAft>
              <a:defRPr sz="1700"/>
            </a:pPr>
            <a:r>
              <a:t>Investigate reasons behind cancelled transactions.</a:t>
            </a:r>
          </a:p>
          <a:p>
            <a:pPr>
              <a:spcAft>
                <a:spcPts val="1000"/>
              </a:spcAft>
              <a:defRPr sz="1700"/>
            </a:pPr>
            <a:r>
              <a:t>Use monthly and weekly trends for inventory and promotional planning.</a:t>
            </a:r>
          </a:p>
          <a:p>
            <a:pPr>
              <a:spcAft>
                <a:spcPts val="1000"/>
              </a:spcAft>
              <a:defRPr sz="1700"/>
            </a:pPr>
            <a:r>
              <a:t>Review unusual quantities, prices, and sales to distinguish genuine transactions from possible data issues.</a:t>
            </a:r>
          </a:p>
          <a:p>
            <a:pPr>
              <a:spcAft>
                <a:spcPts val="1000"/>
              </a:spcAft>
              <a:defRPr sz="1700"/>
            </a:pPr>
            <a:r>
              <a:t>Overall, the EDA provides useful evidence for sales, inventory, and customer-retention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